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solidFill>
            <a:srgbClr val="081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063240"/>
            <a:ext cx="12188952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136392"/>
            <a:ext cx="12188952" cy="36576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64008" cy="164592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노선별 정체구간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419BD2"/>
                </a:solidFill>
              </a:rPr>
              <a:t>분석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C0E0"/>
                </a:solidFill>
              </a:rPr>
              <a:t>2026년 4월 고속도로 정체 현황 심층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5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</a:rPr>
              <a:t>한국도로공사  |  교통분석팀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0A0C0"/>
                </a:solidFill>
              </a:rPr>
              <a:t>2026. 05. 11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2926080" cy="1005840"/>
          </a:xfrm>
          <a:prstGeom prst="rect">
            <a:avLst/>
          </a:prstGeom>
          <a:solidFill>
            <a:srgbClr val="1A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114800"/>
            <a:ext cx="2926080" cy="5486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06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E0"/>
                </a:solidFill>
              </a:rPr>
              <a:t>총 정체 건수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80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120건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4114800"/>
            <a:ext cx="2926080" cy="1005840"/>
          </a:xfrm>
          <a:prstGeom prst="rect">
            <a:avLst/>
          </a:prstGeom>
          <a:solidFill>
            <a:srgbClr val="1A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4114800"/>
            <a:ext cx="2926080" cy="5486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E0"/>
                </a:solidFill>
              </a:rPr>
              <a:t>평균 지속시간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480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60분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114800"/>
            <a:ext cx="2926080" cy="1005840"/>
          </a:xfrm>
          <a:prstGeom prst="rect">
            <a:avLst/>
          </a:prstGeom>
          <a:solidFill>
            <a:srgbClr val="1A3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63840" y="4114800"/>
            <a:ext cx="2926080" cy="5486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206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E0"/>
                </a:solidFill>
              </a:rPr>
              <a:t>최대 정체길이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480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14.9km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분석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19BD2"/>
                </a:solidFill>
              </a:rPr>
              <a:t>데이터 기간: 2026년 4월 1일 ~ 30일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C0E0"/>
                </a:solidFill>
              </a:rPr>
              <a:t>한국도로공사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2743200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총 정체 발생 건수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FA8"/>
                </a:solidFill>
              </a:rP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18470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95"/>
                </a:solidFill>
              </a:rPr>
              <a:t>4월 한 달간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1887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188720"/>
            <a:ext cx="2743200" cy="73152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평균 지속시간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6A2B"/>
                </a:solidFill>
              </a:rPr>
              <a:t>60.1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18470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95"/>
                </a:solidFill>
              </a:rPr>
              <a:t>최단 15분 / 최장 180분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1887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419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1188720"/>
            <a:ext cx="2743200" cy="73152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평균 정체길이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19BD2"/>
                </a:solidFill>
              </a:rPr>
              <a:t>3.7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8470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95"/>
                </a:solidFill>
              </a:rPr>
              <a:t>최대 14.9km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53144" y="11887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53144" y="1188720"/>
            <a:ext cx="27432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3075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분석 대상 노선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7AE60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7463" y="18470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2240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95"/>
                </a:solidFill>
              </a:rPr>
              <a:t>경부·영동·서해안·중부·남해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880360"/>
            <a:ext cx="11521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2880360"/>
            <a:ext cx="11521440" cy="4114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9077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데이터 항목 구성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429000"/>
            <a:ext cx="123444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34838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발생일시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정체 시작 시각 (연-월-일 시:분)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087368"/>
            <a:ext cx="123444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414223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노선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14223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고속도로 노선명 (5개 노선)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745736"/>
            <a:ext cx="123444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480059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구간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80059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IC/JC 기준 정체 구간명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404104"/>
            <a:ext cx="123444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5458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구간길이_km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4589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해당 구간 전체 길이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3429000"/>
            <a:ext cx="123444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5352" y="34838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정체길이_km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348386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실제 정체 발생 구간 길이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4087368"/>
            <a:ext cx="123444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45352" y="4142231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지속시간_분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14223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정체 시작 ~ 해소까지 소요 시간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4745736"/>
            <a:ext cx="123444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45352" y="480059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원인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480059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정체 유발 원인 (6가지 분류)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5404104"/>
            <a:ext cx="1234440" cy="41148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5352" y="54589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해소시각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54589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정체 해소 시각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노선별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19BD2"/>
                </a:solidFill>
              </a:rPr>
              <a:t>발생 건수 · 평균 지속시간 · 평균 정체길이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C0E0"/>
                </a:solidFill>
              </a:rPr>
              <a:t>한국도로공사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2144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노선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188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발생 건수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188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188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평균 지속(분)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188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평균 정체(km)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188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최대 정체(km)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00200"/>
            <a:ext cx="115214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1600200"/>
            <a:ext cx="54864" cy="7772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783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경부고속도로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FA8"/>
                </a:solidFill>
              </a:rPr>
              <a:t>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920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40.0%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856232"/>
            <a:ext cx="237744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0" y="1856232"/>
            <a:ext cx="2377440" cy="27432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17830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53.0분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783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4.0km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423160"/>
            <a:ext cx="11521440" cy="7772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2423160"/>
            <a:ext cx="54864" cy="777240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606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영동고속도로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6060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19BD2"/>
                </a:solidFill>
              </a:rPr>
              <a:t>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26060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22.5%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2679191"/>
            <a:ext cx="237744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0" y="2679191"/>
            <a:ext cx="1337310" cy="274320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2606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62.9분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6060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3.2km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246120"/>
            <a:ext cx="115214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246120"/>
            <a:ext cx="54864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서해안고속도로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3429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</a:rPr>
              <a:t>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566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3429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19.2%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502152"/>
            <a:ext cx="237744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0" y="3502152"/>
            <a:ext cx="113919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3429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69.5분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3429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4.2km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069080"/>
            <a:ext cx="11521440" cy="7772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4069080"/>
            <a:ext cx="54864" cy="77724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251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중부고속도로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4251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6A2B"/>
                </a:solidFill>
              </a:rPr>
              <a:t>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4389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4251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10.8%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4325112"/>
            <a:ext cx="237744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0" y="4325112"/>
            <a:ext cx="643890" cy="27432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0" y="4251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53.8분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42519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3.5km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892040"/>
            <a:ext cx="115214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0040" y="4892040"/>
            <a:ext cx="54864" cy="777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남해고속도로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5074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E44AD"/>
                </a:solidFill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29000" y="52120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5074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7.5%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5148072"/>
            <a:ext cx="2377440" cy="274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0" y="5148072"/>
            <a:ext cx="445770" cy="274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0" y="5074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74.2분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5074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2.7km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897880"/>
            <a:ext cx="11521440" cy="685800"/>
          </a:xfrm>
          <a:prstGeom prst="rect">
            <a:avLst/>
          </a:prstGeom>
          <a:solidFill>
            <a:srgbClr val="E8F0FA"/>
          </a:solidFill>
          <a:ln w="127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943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FA8"/>
                </a:solidFill>
              </a:rPr>
              <a:t>KEY INSIGHT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11680" y="5943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경부고속도로가 전체의 40%를 차지하며 압도적 1위. 남해고속도로는 건수는 적지만 평균 지속시간 74분으로 최장 — 발생 시 장기화 위험.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원인별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19BD2"/>
                </a:solidFill>
              </a:rPr>
              <a:t>정체 유발 원인 6가지 분류별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C0E0"/>
                </a:solidFill>
              </a:rPr>
              <a:t>한국도로공사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858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발생 건수 및 비율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공사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691640"/>
            <a:ext cx="3840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7400" y="1691640"/>
            <a:ext cx="38404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916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25건 (20.8%)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행사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2468880"/>
            <a:ext cx="3840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7400" y="2468880"/>
            <a:ext cx="3533241" cy="347472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24688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B"/>
                </a:solidFill>
              </a:rPr>
              <a:t>23건 (19.2%)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46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교통량 증가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3246120"/>
            <a:ext cx="3840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57400" y="3246120"/>
            <a:ext cx="3533241" cy="347472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2461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19BD2"/>
                </a:solidFill>
              </a:rPr>
              <a:t>23건 (19.2%)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02335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기상악화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023359"/>
            <a:ext cx="3840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57400" y="4023359"/>
            <a:ext cx="3072384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402335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20건 (16.7%)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00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사고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4800600"/>
            <a:ext cx="3840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57400" y="4800600"/>
            <a:ext cx="2765145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48006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18건 (15.0%)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77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주말 정체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5577840"/>
            <a:ext cx="384048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57400" y="5577840"/>
            <a:ext cx="1689811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55778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</a:rPr>
              <a:t>11건 (9.2%)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1097280"/>
            <a:ext cx="4572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1143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원인별 평균 지속시간 (분)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공사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163677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1636776"/>
            <a:ext cx="1568767" cy="23774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67160" y="1600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FA8"/>
                </a:solidFill>
              </a:rPr>
              <a:t>54.9분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행사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200253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2002536"/>
            <a:ext cx="1923097" cy="23774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6716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A2B"/>
                </a:solidFill>
              </a:rPr>
              <a:t>67.3분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교통량 증가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36829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35440" y="2368296"/>
            <a:ext cx="1408747" cy="237744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567160" y="2331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19BD2"/>
                </a:solidFill>
              </a:rPr>
              <a:t>49.3분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2697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기상악화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273405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2734056"/>
            <a:ext cx="181737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567160" y="2697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63.6분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3063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사고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40" y="309981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5440" y="3099816"/>
            <a:ext cx="1711642" cy="2377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567160" y="3063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59.9분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34290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주말 정체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346557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3465576"/>
            <a:ext cx="2091690" cy="23774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567160" y="3429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73.2분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3840480"/>
            <a:ext cx="4572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952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원인별 평균 정체길이 (km)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4343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공사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437997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35440" y="4379976"/>
            <a:ext cx="1463040" cy="23774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567160" y="43434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FA8"/>
                </a:solidFill>
              </a:rPr>
              <a:t>3.2km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0" y="4709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행사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35440" y="474573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4745736"/>
            <a:ext cx="2240280" cy="237744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567160" y="47091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A2B"/>
                </a:solidFill>
              </a:rPr>
              <a:t>4.9km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89520" y="5074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교통량 증가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235440" y="511149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35440" y="5111496"/>
            <a:ext cx="1188720" cy="237744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567160" y="50749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19BD2"/>
                </a:solidFill>
              </a:rPr>
              <a:t>2.6km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9520" y="5440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기상악화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35440" y="547725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35440" y="5477256"/>
            <a:ext cx="1645920" cy="23774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567160" y="5440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3.6km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89520" y="5806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사고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235440" y="584301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35440" y="5843016"/>
            <a:ext cx="1920240" cy="2377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567160" y="5806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4.2km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89520" y="6172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주말 정체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35440" y="6208776"/>
            <a:ext cx="2286000" cy="23774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35440" y="6208776"/>
            <a:ext cx="1920240" cy="23774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567160" y="6172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4.2km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6400800"/>
            <a:ext cx="1152144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8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2920" y="6419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행사는 평균 4.9km로 가장 넓은 정체 유발. 주말 정체는 건수 최소이나 지속시간 73분으로 최장 — 예측 대응 필요.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시간대 · 요일별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19BD2"/>
                </a:solidFill>
              </a:rPr>
              <a:t>정체 발생 시간 패턴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C0E0"/>
                </a:solidFill>
              </a:rPr>
              <a:t>한국도로공사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7589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시간대별 발생 건수 및 평균 지속시간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45919"/>
            <a:ext cx="822960" cy="2926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818042"/>
            <a:ext cx="822960" cy="2753957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7057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55"/>
                </a:solidFill>
              </a:rPr>
              <a:t>32건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17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심야
00-06시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20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5"/>
                </a:solidFill>
              </a:rPr>
              <a:t>평균
44.4분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1645919"/>
            <a:ext cx="822960" cy="2926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0" y="3539265"/>
            <a:ext cx="822960" cy="103273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319179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</a:rPr>
              <a:t>12건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617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출근
06-10시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20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5"/>
                </a:solidFill>
              </a:rPr>
              <a:t>평균
77.6분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1645919"/>
            <a:ext cx="822960" cy="2926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63240" y="1645919"/>
            <a:ext cx="822960" cy="29260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1298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FA8"/>
                </a:solidFill>
              </a:rPr>
              <a:t>34건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617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오전
10-14시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120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5"/>
                </a:solidFill>
              </a:rPr>
              <a:t>평균
48.7분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645919"/>
            <a:ext cx="822960" cy="2926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195021"/>
            <a:ext cx="822960" cy="1376978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284754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2B"/>
                </a:solidFill>
              </a:rPr>
              <a:t>16건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617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오후
14-18시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120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5"/>
                </a:solidFill>
              </a:rPr>
              <a:t>평균
88.4분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1645919"/>
            <a:ext cx="822960" cy="2926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20" y="3367143"/>
            <a:ext cx="822960" cy="120485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3019671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E44AD"/>
                </a:solidFill>
              </a:rPr>
              <a:t>14건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4617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저녁
18-22시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5120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5"/>
                </a:solidFill>
              </a:rPr>
              <a:t>평균
81.7분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59" y="1645919"/>
            <a:ext cx="822960" cy="2926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59" y="3539265"/>
            <a:ext cx="822960" cy="1032734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191793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19BD2"/>
                </a:solidFill>
              </a:rPr>
              <a:t>12건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617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55"/>
                </a:solidFill>
              </a:rPr>
              <a:t>야간
22-24시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120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08095"/>
                </a:solidFill>
              </a:rPr>
              <a:t>평균
53.8분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1600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55"/>
                </a:solidFill>
              </a:rPr>
              <a:t>← 건수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1097280"/>
            <a:ext cx="3749039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143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4455"/>
                </a:solidFill>
              </a:rPr>
              <a:t>요일별 발생 건수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월요일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1691640"/>
            <a:ext cx="192024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8320" y="1691640"/>
            <a:ext cx="1645920" cy="3200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384280" y="1691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18건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23317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화요일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18320" y="2331720"/>
            <a:ext cx="192024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18320" y="2331720"/>
            <a:ext cx="1554480" cy="3200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384280" y="2331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17건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971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수요일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18320" y="2971800"/>
            <a:ext cx="192024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18320" y="2971800"/>
            <a:ext cx="1005840" cy="3200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384280" y="2971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11건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61187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목요일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18320" y="3611879"/>
            <a:ext cx="192024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18320" y="3611879"/>
            <a:ext cx="1920240" cy="3200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384280" y="36118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21건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425195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금요일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4251959"/>
            <a:ext cx="192024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418320" y="4251959"/>
            <a:ext cx="1737360" cy="32004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84280" y="42519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19건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8920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토요일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4892040"/>
            <a:ext cx="192024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18320" y="4892040"/>
            <a:ext cx="1554480" cy="32004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384280" y="4892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B"/>
                </a:solidFill>
              </a:rPr>
              <a:t>17건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553211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일요일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8320" y="5532119"/>
            <a:ext cx="192024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18320" y="5532119"/>
            <a:ext cx="1554480" cy="32004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84280" y="553211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B"/>
                </a:solidFill>
              </a:rPr>
              <a:t>17건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6400800"/>
            <a:ext cx="1152144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6419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오전(10-14시) 34건으로 최다 발생. 오후(14-18시) 평균 88분으로 지속시간 최장. 수요일 82분으로 주중 최장 — 중반 집중 모니터링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주요 구간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19BD2"/>
                </a:solidFill>
              </a:rPr>
              <a:t>빈발 정체 구간 TOP 8 및 최악의 정체 사례 TOP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C0E0"/>
                </a:solidFill>
              </a:rPr>
              <a:t>한국도로공사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6858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68580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3385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빈발 정체 구간 TOP 8 (발생 건수 기준)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54480"/>
            <a:ext cx="6858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45720" cy="59436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6420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6A2B"/>
                </a:solidFill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수원IC-안성IC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5623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경부고속도로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664207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6A2B"/>
                </a:solidFill>
              </a:rPr>
              <a:t>15건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737360"/>
            <a:ext cx="22860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1880" y="1737360"/>
            <a:ext cx="2286000" cy="256032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664207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평균 53.3분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167128"/>
            <a:ext cx="685800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167128"/>
            <a:ext cx="45720" cy="59436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2768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#2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212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천안IC-대전IC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468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경부고속도로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227685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14건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2350008"/>
            <a:ext cx="22860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11880" y="2350008"/>
            <a:ext cx="2133600" cy="25603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22768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평균 41.1분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779776"/>
            <a:ext cx="6858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2779776"/>
            <a:ext cx="45720" cy="59436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8895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#3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28254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하남IC-청주JC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081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중부고속도로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288950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13건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2962656"/>
            <a:ext cx="22860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11880" y="2962656"/>
            <a:ext cx="1981199" cy="25603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288950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평균 53.8분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392424"/>
            <a:ext cx="685800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3392424"/>
            <a:ext cx="4572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5021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#4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3438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목감IC-당진IC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36941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서해안고속도로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35021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12건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11880" y="3575304"/>
            <a:ext cx="22860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11880" y="3575304"/>
            <a:ext cx="182880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35021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평균 65.6분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005072"/>
            <a:ext cx="6858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4005072"/>
            <a:ext cx="45720" cy="594360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19BD2"/>
                </a:solidFill>
              </a:rPr>
              <a:t>#5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405079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신갈JC-이천IC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43068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영동고속도로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4114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19BD2"/>
                </a:solidFill>
              </a:rPr>
              <a:t>11건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11880" y="4187952"/>
            <a:ext cx="22860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11880" y="4187952"/>
            <a:ext cx="1676400" cy="256032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89320" y="4114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평균 67.5분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617720"/>
            <a:ext cx="685800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040" y="4617720"/>
            <a:ext cx="4572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47274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#6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안산JC-목감IC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49194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서해안고속도로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472744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11건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11880" y="4800600"/>
            <a:ext cx="22860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11880" y="4800600"/>
            <a:ext cx="167640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89320" y="47274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평균 73.8분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230368"/>
            <a:ext cx="6858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0040" y="5230368"/>
            <a:ext cx="45720" cy="594360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53400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19BD2"/>
                </a:solidFill>
              </a:rPr>
              <a:t>#7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5276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여주IC-강릉JC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5532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영동고속도로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34640" y="534009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19BD2"/>
                </a:solidFill>
              </a:rPr>
              <a:t>11건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11880" y="5413248"/>
            <a:ext cx="22860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11880" y="5413248"/>
            <a:ext cx="1676400" cy="256032"/>
          </a:xfrm>
          <a:prstGeom prst="rect">
            <a:avLst/>
          </a:prstGeom>
          <a:solidFill>
            <a:srgbClr val="419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89320" y="53400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평균 50.8분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843016"/>
            <a:ext cx="6858000" cy="594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0040" y="5843016"/>
            <a:ext cx="45720" cy="59436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59527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FA8"/>
                </a:solidFill>
              </a:rPr>
              <a:t>#8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58887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55"/>
                </a:solidFill>
              </a:rPr>
              <a:t>안성IC-천안IC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" y="61447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경부고속도로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34640" y="595274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11건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11880" y="6025896"/>
            <a:ext cx="2286000" cy="2560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11880" y="6025896"/>
            <a:ext cx="1676400" cy="25603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89320" y="59527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평균 65.4분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06640" y="1097280"/>
            <a:ext cx="4572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06640" y="1097280"/>
            <a:ext cx="4572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589520" y="113385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최악의 정체 TOP 5 (지속시간 기준)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406640" y="1600200"/>
            <a:ext cx="457200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06640" y="1600200"/>
            <a:ext cx="4572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338560" y="1691640"/>
            <a:ext cx="594360" cy="27432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338560" y="169164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행사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43800" y="16733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180분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43800" y="2075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04-09 18:45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0" y="16733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55"/>
                </a:solidFill>
              </a:rPr>
              <a:t>영동고속도로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0" y="1920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신갈JC-이천IC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0" y="21671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12.9km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406640" y="256032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406640" y="2560320"/>
            <a:ext cx="4572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338560" y="2651760"/>
            <a:ext cx="594360" cy="27432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338560" y="265176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행사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43800" y="26334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168분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43800" y="30358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04-08 08:00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44000" y="26334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55"/>
                </a:solidFill>
              </a:rPr>
              <a:t>남해고속도로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0" y="28803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순천IC-광양IC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0" y="31272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3.5km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06640" y="3520440"/>
            <a:ext cx="457200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406640" y="3520440"/>
            <a:ext cx="4572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338560" y="3611880"/>
            <a:ext cx="59436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338560" y="36118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사고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43800" y="35935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168분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543800" y="3995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04-22 18:00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44000" y="35935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55"/>
                </a:solidFill>
              </a:rPr>
              <a:t>경부고속도로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0" y="38404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수원IC-안성IC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0" y="40873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14.9km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406640" y="4480560"/>
            <a:ext cx="4572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406640" y="4480560"/>
            <a:ext cx="4572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338560" y="4572000"/>
            <a:ext cx="594360" cy="27432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338560" y="457200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주말 정체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543800" y="45537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165분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43800" y="4956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04-02 17:00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0" y="45537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55"/>
                </a:solidFill>
              </a:rPr>
              <a:t>영동고속도로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0" y="4800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이천IC-여주IC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44000" y="50474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3.2km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406640" y="5440680"/>
            <a:ext cx="4572000" cy="914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406640" y="5440680"/>
            <a:ext cx="4572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338560" y="5532120"/>
            <a:ext cx="594360" cy="27432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338560" y="553212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기상악화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543800" y="55138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156분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543800" y="5916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04-06 17:15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44000" y="55138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44455"/>
                </a:solidFill>
              </a:rPr>
              <a:t>서해안고속도로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44000" y="5760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목감IC-당진IC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144000" y="60076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95"/>
                </a:solidFill>
              </a:rPr>
              <a:t>7.6km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20040" y="6400800"/>
            <a:ext cx="11521440" cy="274320"/>
          </a:xfrm>
          <a:prstGeom prst="rect">
            <a:avLst/>
          </a:prstGeom>
          <a:solidFill>
            <a:srgbClr val="FCE4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02920" y="6419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55"/>
                </a:solidFill>
              </a:rPr>
              <a:t>경부고속도로 수원IC-안성IC 구간이 15건으로 최다. 최악의 정체 5건 중 행사 원인이 2건 — 대형 행사 사전 교통 분산 대책 필수.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종합 시사점 및 제언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19BD2"/>
                </a:solidFill>
              </a:rPr>
              <a:t>분석 결과 기반 핵심 개선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C0E0"/>
                </a:solidFill>
              </a:rPr>
              <a:t>한국도로공사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66928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5669280" cy="7315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371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경부고속도로 집중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92807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전체의 40%(48건) 집중 발생
수원IC-안성IC·천안IC-대전IC 구간 상시 모니터링 체계 강화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530352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5FA8"/>
                </a:solidFill>
              </a:rPr>
              <a:t>DATA  수원IC-안성IC 15건 / 천안IC-대전IC 14건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43000"/>
            <a:ext cx="566928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43000"/>
            <a:ext cx="5669280" cy="73152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325880"/>
            <a:ext cx="502920" cy="502920"/>
          </a:xfrm>
          <a:prstGeom prst="rect">
            <a:avLst/>
          </a:prstGeom>
          <a:solidFill>
            <a:srgbClr val="E86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325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3716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행사·주말 사전 교통 분산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92807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행사 발생 시 평균 정체길이 4.9km — 원인별 최대
주말 정체 평균 지속시간 73분으로 가장 오래 지속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926080"/>
            <a:ext cx="530352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30175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6A2B"/>
                </a:solidFill>
              </a:rPr>
              <a:t>DATA  행사 원인 최악의 정체 5건 중 2건 차지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94760"/>
            <a:ext cx="566928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94760"/>
            <a:ext cx="5669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977640"/>
            <a:ext cx="5029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023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오후·저녁 시간대 집중 대응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4456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오후(14-18시) 평균 지속시간 88분 — 시간대별 최장
저녁(18-22시)도 82분으로 퇴근 정체 장기화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577840"/>
            <a:ext cx="530352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692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</a:rPr>
              <a:t>DATA  오전(10-14시) 34건으로 발생 빈도 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94760"/>
            <a:ext cx="5669280" cy="24231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794760"/>
            <a:ext cx="566928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3977640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977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023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4455"/>
                </a:solidFill>
              </a:rPr>
              <a:t>남해고속도로 발생 시 즉각 대응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54456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55"/>
                </a:solidFill>
              </a:rPr>
              <a:t>건수는 9건으로 최소이나 평균 지속 74분으로 최장
발생 즉시 우회 안내 및 현장 투입 프로세스 필요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5577840"/>
            <a:ext cx="5303520" cy="47548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79" y="56692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DATA  평균 지속시간 전 노선 중 1위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4648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C0E0"/>
                </a:solidFill>
              </a:rPr>
              <a:t>본 분석은 2026년 4월 더미 데이터 기반이며, 실제 운영 데이터 적용 시 결과가 상이할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